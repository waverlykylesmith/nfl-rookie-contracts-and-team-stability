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>
        <p:scale>
          <a:sx n="113" d="100"/>
          <a:sy n="113" d="100"/>
        </p:scale>
        <p:origin x="760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volatility</c:v>
                </c:pt>
              </c:strCache>
            </c:strRef>
          </c:tx>
          <c:spPr>
            <a:solidFill>
              <a:srgbClr val="2C5F4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5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HCC</c:v>
                </c:pt>
                <c:pt idx="1">
                  <c:v>QBE</c:v>
                </c:pt>
                <c:pt idx="2">
                  <c:v>Age</c:v>
                </c:pt>
                <c:pt idx="3">
                  <c:v>OS</c:v>
                </c:pt>
                <c:pt idx="4">
                  <c:v>OCC</c:v>
                </c:pt>
                <c:pt idx="5">
                  <c:v>DC</c:v>
                </c:pt>
                <c:pt idx="6">
                  <c:v>QBC</c:v>
                </c:pt>
                <c:pt idx="7">
                  <c:v>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0.14199999999999999</c:v>
                </c:pt>
                <c:pt idx="1">
                  <c:v>7.9000000000000001E-2</c:v>
                </c:pt>
                <c:pt idx="2">
                  <c:v>7.0000000000000007E-2</c:v>
                </c:pt>
                <c:pt idx="3">
                  <c:v>2.8000000000000001E-2</c:v>
                </c:pt>
                <c:pt idx="4">
                  <c:v>4.0000000000000001E-3</c:v>
                </c:pt>
                <c:pt idx="5">
                  <c:v>-2.8000000000000001E-2</c:v>
                </c:pt>
                <c:pt idx="6">
                  <c:v>-8.2000000000000003E-2</c:v>
                </c:pt>
                <c:pt idx="7">
                  <c:v>-0.11799999999999999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B0-D24E-849B-219DEF6BB3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7"/>
          <c:min val="-0.15"/>
        </c:scaling>
        <c:delete val="0"/>
        <c:axPos val="b"/>
        <c:majorGridlines>
          <c:spPr>
            <a:ln w="12700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QB Experience</c:v>
                </c:pt>
              </c:strCache>
            </c:strRef>
          </c:tx>
          <c:spPr>
            <a:ln w="3810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6.5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7.3999999999999996E-2</c:v>
                </c:pt>
                <c:pt idx="1">
                  <c:v>7.9799999999999996E-2</c:v>
                </c:pt>
                <c:pt idx="2">
                  <c:v>8.3500000000000005E-2</c:v>
                </c:pt>
                <c:pt idx="3">
                  <c:v>8.5199999999999998E-2</c:v>
                </c:pt>
                <c:pt idx="4">
                  <c:v>8.3500000000000005E-2</c:v>
                </c:pt>
                <c:pt idx="5">
                  <c:v>7.9799999999999996E-2</c:v>
                </c:pt>
                <c:pt idx="6">
                  <c:v>7.3999999999999996E-2</c:v>
                </c:pt>
                <c:pt idx="7">
                  <c:v>6.6100000000000006E-2</c:v>
                </c:pt>
                <c:pt idx="8">
                  <c:v>5.6099999999999997E-2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829-F549-AA5D-053E9C2C6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5000000000000001E-2"/>
          <c:min val="0.04"/>
        </c:scaling>
        <c:delete val="0"/>
        <c:axPos val="l"/>
        <c:majorGridlines>
          <c:spPr>
            <a:ln w="12700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Rookie Cap Share</c:v>
                </c:pt>
              </c:strCache>
            </c:strRef>
          </c:tx>
          <c:spPr>
            <a:ln w="38100" cap="flat">
              <a:solidFill>
                <a:srgbClr val="2C5F4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1.6</c:v>
                </c:pt>
                <c:pt idx="1">
                  <c:v>2.5</c:v>
                </c:pt>
                <c:pt idx="2">
                  <c:v>3.5</c:v>
                </c:pt>
                <c:pt idx="3">
                  <c:v>4.7</c:v>
                </c:pt>
                <c:pt idx="4">
                  <c:v>5.5</c:v>
                </c:pt>
                <c:pt idx="5">
                  <c:v>6.3</c:v>
                </c:pt>
                <c:pt idx="6">
                  <c:v>7.1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7.5700000000000003E-2</c:v>
                </c:pt>
                <c:pt idx="1">
                  <c:v>8.0600000000000005E-2</c:v>
                </c:pt>
                <c:pt idx="2">
                  <c:v>8.4000000000000005E-2</c:v>
                </c:pt>
                <c:pt idx="3">
                  <c:v>8.5500000000000007E-2</c:v>
                </c:pt>
                <c:pt idx="4">
                  <c:v>8.48E-2</c:v>
                </c:pt>
                <c:pt idx="5">
                  <c:v>8.2900000000000001E-2</c:v>
                </c:pt>
                <c:pt idx="6">
                  <c:v>7.9600000000000004E-2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B6D-7A48-9CA0-817274CED2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5000000000000001E-2"/>
          <c:min val="0.04"/>
        </c:scaling>
        <c:delete val="0"/>
        <c:axPos val="l"/>
        <c:majorGridlines>
          <c:spPr>
            <a:ln w="12700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Offensive Cap Share</c:v>
                </c:pt>
              </c:strCache>
            </c:strRef>
          </c:tx>
          <c:spPr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11</c:v>
                </c:pt>
                <c:pt idx="1">
                  <c:v>20</c:v>
                </c:pt>
                <c:pt idx="2">
                  <c:v>30</c:v>
                </c:pt>
                <c:pt idx="3">
                  <c:v>42</c:v>
                </c:pt>
                <c:pt idx="4">
                  <c:v>50</c:v>
                </c:pt>
                <c:pt idx="5">
                  <c:v>58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4.6800000000000001E-2</c:v>
                </c:pt>
                <c:pt idx="1">
                  <c:v>6.6100000000000006E-2</c:v>
                </c:pt>
                <c:pt idx="2">
                  <c:v>7.9899999999999999E-2</c:v>
                </c:pt>
                <c:pt idx="3">
                  <c:v>8.5800000000000001E-2</c:v>
                </c:pt>
                <c:pt idx="4">
                  <c:v>8.3199999999999996E-2</c:v>
                </c:pt>
                <c:pt idx="5">
                  <c:v>7.5399999999999995E-2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75E-244D-91DF-018F555096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.5000000000000001E-2"/>
          <c:min val="0.04"/>
        </c:scaling>
        <c:delete val="0"/>
        <c:axPos val="l"/>
        <c:majorGridlines>
          <c:spPr>
            <a:ln w="12700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82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49840" y="-731520"/>
            <a:ext cx="3657600" cy="3657600"/>
          </a:xfrm>
          <a:prstGeom prst="ellipse">
            <a:avLst/>
          </a:prstGeom>
          <a:solidFill>
            <a:srgbClr val="2A3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 CONTRACTS &amp; TEAM STABILITY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rookie-wage-scale spending relates to the volatility of NFL offenses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502920" cy="548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206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 Smith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Syracuse University  • 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EPA/PLAY VOLATILITY  ·  ROOKIE CAP SHARE  ·  DRAFT CAPITAL  ·  TEAM CONTINUITY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CA061B-4D5C-6E98-015F-E8C5D023A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546" y="5474730"/>
            <a:ext cx="4516374" cy="9260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2011 CBA introduced a rookie wage scale, fixing rookie pay to draft position before a player is ever drafted. Cheaper, standardized rookie deals could change how teams behave.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2331720"/>
            <a:ext cx="384048" cy="384048"/>
          </a:xfrm>
          <a:prstGeom prst="ellipse">
            <a:avLst/>
          </a:prstGeom>
          <a:solidFill>
            <a:srgbClr val="2C5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rebuilds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108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rookie QBs let teams retool their offense quickly.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99232" y="2331720"/>
            <a:ext cx="384048" cy="384048"/>
          </a:xfrm>
          <a:prstGeom prst="ellipse">
            <a:avLst/>
          </a:prstGeom>
          <a:solidFill>
            <a:srgbClr val="2C5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9232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99232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99232" y="3108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 afford to reset sooner after a losing stretch.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21488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85232" y="2331720"/>
            <a:ext cx="384048" cy="384048"/>
          </a:xfrm>
          <a:prstGeom prst="ellipse">
            <a:avLst/>
          </a:prstGeom>
          <a:solidFill>
            <a:srgbClr val="2C5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85232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85232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5232" y="3108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at one position can be spent disproportionately elsewhere.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3708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“volatility” means here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4-year forward-looking standard deviation of EPA/play — not whether a team wins, but how consistent its offensive performance is across the length of a rookie's first contract.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349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years: 2011–2015 (rolling windows extend to 2019). 2020 is excluded — COVID introduced offensive noise league-wide that isn't a true reflection of roster construction.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Highest Volatility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Louis / Los Angeles Rams, 2015–2019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52360" y="137160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0" y="1600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offensive volatility in the sample.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2015: draft RB Todd Gurley (OROY, OPOY, 3x Pro Bowl, 3x All-Pro).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2016: draft franchise QB Jared Goff (2x Pro Bowl as a Ram).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efficiency jumps sharply in the two seasons that follow.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0" y="4160520"/>
            <a:ext cx="3566160" cy="0"/>
          </a:xfrm>
          <a:prstGeom prst="line">
            <a:avLst/>
          </a:prstGeom>
          <a:noFill/>
          <a:ln w="12700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0" y="4297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0" y="4572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in premium offensive draft picks may play a direct role in how quickly — and how sharply — an offense's performance shifts.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24A77AA-CE4A-7232-62CA-33B05CA06213}"/>
              </a:ext>
            </a:extLst>
          </p:cNvPr>
          <p:cNvGrpSpPr/>
          <p:nvPr/>
        </p:nvGrpSpPr>
        <p:grpSpPr>
          <a:xfrm>
            <a:off x="115203" y="1409864"/>
            <a:ext cx="7337157" cy="4522904"/>
            <a:chOff x="2875203" y="1114769"/>
            <a:chExt cx="9316797" cy="5743231"/>
          </a:xfrm>
        </p:grpSpPr>
        <p:pic>
          <p:nvPicPr>
            <p:cNvPr id="17" name="Picture 16" descr="A graph with blue and yellow lines&#10;&#10;Description automatically generated">
              <a:extLst>
                <a:ext uri="{FF2B5EF4-FFF2-40B4-BE49-F238E27FC236}">
                  <a16:creationId xmlns:a16="http://schemas.microsoft.com/office/drawing/2014/main" id="{EA71BE12-F022-FFC8-AF07-D4735E05E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5203" y="1114769"/>
              <a:ext cx="9316797" cy="5743231"/>
            </a:xfrm>
            <a:prstGeom prst="rect">
              <a:avLst/>
            </a:prstGeom>
          </p:spPr>
        </p:pic>
        <p:pic>
          <p:nvPicPr>
            <p:cNvPr id="18" name="Picture 2" descr="Todd Gurley Draft and Combine Prospect Profile | NFL.com">
              <a:extLst>
                <a:ext uri="{FF2B5EF4-FFF2-40B4-BE49-F238E27FC236}">
                  <a16:creationId xmlns:a16="http://schemas.microsoft.com/office/drawing/2014/main" id="{62761522-3674-041F-6F54-1F984C4BA3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5025681"/>
              <a:ext cx="717550" cy="717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Jared Goff Fantasy Football Stats 2025 | NFL Fantasy">
              <a:extLst>
                <a:ext uri="{FF2B5EF4-FFF2-40B4-BE49-F238E27FC236}">
                  <a16:creationId xmlns:a16="http://schemas.microsoft.com/office/drawing/2014/main" id="{C0DF98A1-E0B8-F35D-49E8-0BF28B257B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6400" y="5327306"/>
              <a:ext cx="717550" cy="717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Lowest Volatility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Browns, overlapping windows 2011–2015 &amp; 2013–2017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52360" y="137160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0" y="1600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offensive volatility in the sample — but for a different reason.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0" y="228600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notable offensive draftee: G Joel Bitonio (2014), later a 2x All-Pro.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franchise cornerstone couldn't move the needle on a persistently subpar offensive line.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Rams pattern doesn't repeat: stability here reflects consistent mediocrity, not a smart bet.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0" y="4343400"/>
            <a:ext cx="3566160" cy="0"/>
          </a:xfrm>
          <a:prstGeom prst="line">
            <a:avLst/>
          </a:prstGeom>
          <a:noFill/>
          <a:ln w="12700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0" y="4480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studied window, 2018–22 Cleveland (Baker Mayfield, David Njoku — both first-round) shows more offense and more volatility, echoing the Rams pattern.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3" name="Picture 12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8F946E6E-6149-FCED-5BBC-664348AA4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1" y="1367246"/>
            <a:ext cx="7403679" cy="45532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Variables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nflfastR (play-by-play) and Spotrac (contracts). Volatility is modeled across three groups of predictors.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primary QB as prior season?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9992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head coach as prior season?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8221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offensive coordinator as prior season?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15087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06240" y="1508760"/>
            <a:ext cx="3474720" cy="502920"/>
          </a:xfrm>
          <a:prstGeom prst="rect">
            <a:avLst/>
          </a:prstGeom>
          <a:solidFill>
            <a:srgbClr val="2C5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1508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Characteristics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389120" y="219456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C5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0" y="219456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 offensive starters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0" y="301752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C5F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0" y="30175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9992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QB's years of experience (rookie = 0)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15087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863840" y="1508760"/>
            <a:ext cx="3474720" cy="5029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63840" y="1508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Office Decisions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046720" y="219456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46720" y="219456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23960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capital spent on offensive players (1/pick, summed)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01752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46720" y="301752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23960" y="299923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cap space paid to rookies overall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38404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6720" y="38404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23960" y="382219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cap space paid to all offensive players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season fixed effects are included in every specification.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correlation of each predictor with 4-year EPA/play volatility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weak in isolation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bivariate correlation is small. That's expected — and it's exactly why the model adds squared and interaction terms.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55280" y="2926080"/>
            <a:ext cx="3383280" cy="0"/>
          </a:xfrm>
          <a:prstGeom prst="line">
            <a:avLst/>
          </a:prstGeom>
          <a:noFill/>
          <a:ln w="12700">
            <a:solidFill>
              <a:srgbClr val="3A4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955280" y="310896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continuity (HCC) shows the strongest raw pull toward higher volatility.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cap share (RS) shows the strongest pull toward lower volatility.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straight-line correlation can still hide a real curved relationship.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are standardized (_z) and entered with squared terms to let volatility rise, peak, and fall rather than move in one direction only. Two purpose-built interactions are added.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epa_volatility_4yr  ~  qbc + hcc + occ  +  off_dc_z (+sq)  +  age_z (+sq)  +  qb_exp_z (+sq)  +  rookie_prop_z (+sq)  +  offense_prop_z (+sq)  +  rookie_prop_z × offense_prop_z  +  rookie_prop_z × off_dc_z  +  team &amp; season fixed effects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5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 Share × Draft Capital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rookie cap share means something different depending on who it's spent on — late-round depth vs. a premium first-round pick. This term tests whether concentration matters, not just the total.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324612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3474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C5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 Share × Offensive Share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40233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rookie share paired with a high offensive cap commitment is a concentrated bet on youth. Paired with a low offensive share, it may just reflect a rebuild, not a strategy.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Estimators, One Specification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team-seasons · 47 predictors (df=98) · GVIF¹˸²ᵈᶠ¹ ranges 1.29–1.86 across predictors — all under the 2.0 rule of thumb after standardization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Cluster-robust by team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season fixed effects absorb stable franchise/era differences. Clustering standard errors by team guards against leftover within-team correlation across seasons.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4892040" cy="0"/>
          </a:xfrm>
          <a:prstGeom prst="line">
            <a:avLst/>
          </a:prstGeom>
          <a:noFill/>
          <a:ln w="12700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a small number of high-leverage team-seasons.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2C5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 M-Estimation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1540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regression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 effects and predictors — but high-residual observations are automatically downweighted during fitting instead of dominating the coefficients.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794760"/>
            <a:ext cx="4892040" cy="0"/>
          </a:xfrm>
          <a:prstGeom prst="line">
            <a:avLst/>
          </a:prstGeom>
          <a:noFill/>
          <a:ln w="12700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39319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i="1" dirty="0">
                <a:solidFill>
                  <a:srgbClr val="2C5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specifically to limit the influence of outlier team-seasons.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two estimators agree on sign and significance, the finding is unlikely to be driven by a handful of extreme team-seasons. Where they disagree, the robust model's estimate is the more trustworthy read.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OLS vs. Robust Regression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coefficients — full model includes team &amp; season fixed effects (R² = 0.686, Adj. R² = 0.535)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4904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417320"/>
            <a:ext cx="18288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210312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(RLM)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10896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3749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874520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  (coach continuity)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874520"/>
            <a:ext cx="1828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0" y="1874520"/>
            <a:ext cx="1828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+0.007 *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1031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+0.006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874520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0" y="1874520"/>
            <a:ext cx="3108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Significant, both directions agree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441448"/>
            <a:ext cx="374904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441448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qb_exp_z²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2441448"/>
            <a:ext cx="182880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0" y="2441448"/>
            <a:ext cx="1828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−0.006 ***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441448"/>
            <a:ext cx="210312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2441448"/>
            <a:ext cx="21031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−0.006 **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2441448"/>
            <a:ext cx="310896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0" y="2441448"/>
            <a:ext cx="3108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curvature, confirmed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008376"/>
            <a:ext cx="3749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008376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offense_prop_z²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97680" y="3008376"/>
            <a:ext cx="1828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97680" y="3008376"/>
            <a:ext cx="1828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−0.003 **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3008376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3008376"/>
            <a:ext cx="21031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−0.003 *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29600" y="3008376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3008376"/>
            <a:ext cx="3108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curvature, confirmed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575304"/>
            <a:ext cx="374904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3575304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rookie_prop_z²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97680" y="3575304"/>
            <a:ext cx="182880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97680" y="3575304"/>
            <a:ext cx="1828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26480" y="3575304"/>
            <a:ext cx="210312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26480" y="3575304"/>
            <a:ext cx="21031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−0.002 *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229600" y="3575304"/>
            <a:ext cx="310896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0" y="3575304"/>
            <a:ext cx="3108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RLM finds what OLS misses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142232"/>
            <a:ext cx="3749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4142232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rookie_prop_z × off_dc_z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297680" y="4142232"/>
            <a:ext cx="1828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97680" y="4142232"/>
            <a:ext cx="1828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+0.004 *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26480" y="4142232"/>
            <a:ext cx="2103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26480" y="4142232"/>
            <a:ext cx="21031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+0.003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229600" y="4142232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29600" y="4142232"/>
            <a:ext cx="3108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OLS-only — treat as suggestive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4709160"/>
            <a:ext cx="374904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48640" y="4709160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qbc  (QB continuity)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297680" y="4709160"/>
            <a:ext cx="182880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297680" y="4709160"/>
            <a:ext cx="182880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−0.007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126480" y="4709160"/>
            <a:ext cx="210312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126480" y="4709160"/>
            <a:ext cx="21031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−0.004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229600" y="4709160"/>
            <a:ext cx="3108960" cy="566928"/>
          </a:xfrm>
          <a:prstGeom prst="rect">
            <a:avLst/>
          </a:prstGeom>
          <a:solidFill>
            <a:srgbClr val="F3F5F4"/>
          </a:solidFill>
          <a:ln w="9525">
            <a:solidFill>
              <a:srgbClr val="D8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229600" y="4709160"/>
            <a:ext cx="310896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either way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48640" y="5413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p&lt;0.1   ** p&lt;0.05   *** p&lt;0.01     Team fixed effects: significant. Season fixed effects: not significant.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Sweet Spots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predictors show a concave (rise-then-fall) relationship with volatility, not a straight line — curves computed directly from the fitted RLM coefficients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 Experience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volatility at 6.5 years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965960"/>
          <a:ext cx="3611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297680" y="1325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Cap Share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297680" y="16276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C5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volatility at 4.7%</a:t>
            </a:r>
            <a:endParaRPr lang="en-US" sz="10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389120" y="1965960"/>
          <a:ext cx="3611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8138160" y="13258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Cap Share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138160" y="16276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volatility at 42%</a:t>
            </a:r>
            <a:endParaRPr lang="en-US" sz="105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8229600" y="1965960"/>
          <a:ext cx="36118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hape 8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822960" y="46817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curves: extremes are stable, the middle is not.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" y="501091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with a very green or very seasoned QB, a minimal or maximal rookie cap share, and a low or very high offensive cap commitment tend to be steadier. Volatility peaks in the middle — the zone teams often pass through mid-rebuild.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 Hold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vs. Fitted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17320" y="199339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evenly above and below zero — no funnel shape, no sign of heteroskedasticity.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157276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Distance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0" y="199339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team-seasons cluster around real QB transitions (Denver 2011–13: Tebow → Manning), not random noise — the case for using the robust model.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5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950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Durbin-Watson: 2.039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7320" y="437083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autocorrelation despite the repeated-team panel structure.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3950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of RLM Residuals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40880" y="437083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lag falls within confidence bounds except lag 7, which barely crosses — reasonable evidence against residual autocorrelation.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502920" cy="54864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continuity matters most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3C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Head-coach continuity shows the strongest, most consistent link to volatility of any variable measured — confirmed by both estimators.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curve, not a 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3C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cap share, offensive cap share, and QB experience all show a rise-then-fall relationship with volatility — the middle of the range is the least stable place to be.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657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capital's role is suggestive, not settled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023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3C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rookie investment concentrated in a premium pick shows a possible link to more volatility under OLS, but the robust model doesn't confirm it as strongly.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800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identity still matters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51663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3C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team fixed effects mean factors beyond roster spending — organizational culture, scheme, front-office philosophy — still shape offensive stability.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 Contract Allocations and Team Stability in the NFL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1523</Words>
  <Application>Microsoft Macintosh PowerPoint</Application>
  <PresentationFormat>Widescreen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Kyle Smith</cp:lastModifiedBy>
  <cp:revision>3</cp:revision>
  <dcterms:created xsi:type="dcterms:W3CDTF">2026-07-15T16:39:30Z</dcterms:created>
  <dcterms:modified xsi:type="dcterms:W3CDTF">2026-07-15T16:47:40Z</dcterms:modified>
</cp:coreProperties>
</file>